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image" Target="../media/image19.png"/><Relationship Id="rId15" Type="http://schemas.openxmlformats.org/officeDocument/2006/relationships/image" Target="../media/image20.png"/><Relationship Id="rId16" Type="http://schemas.openxmlformats.org/officeDocument/2006/relationships/image" Target="../media/image21.png"/><Relationship Id="rId17" Type="http://schemas.openxmlformats.org/officeDocument/2006/relationships/image" Target="../media/image22.png"/><Relationship Id="rId18" Type="http://schemas.openxmlformats.org/officeDocument/2006/relationships/image" Target="../media/image23.png"/><Relationship Id="rId19" Type="http://schemas.openxmlformats.org/officeDocument/2006/relationships/image" Target="../media/image24.png"/><Relationship Id="rId20" Type="http://schemas.openxmlformats.org/officeDocument/2006/relationships/image" Target="../media/image25.png"/><Relationship Id="rId21" Type="http://schemas.openxmlformats.org/officeDocument/2006/relationships/image" Target="../media/image26.png"/><Relationship Id="rId22" Type="http://schemas.openxmlformats.org/officeDocument/2006/relationships/image" Target="../media/image27.png"/><Relationship Id="rId23" Type="http://schemas.openxmlformats.org/officeDocument/2006/relationships/image" Target="../media/image28.png"/><Relationship Id="rId24" Type="http://schemas.openxmlformats.org/officeDocument/2006/relationships/image" Target="../media/image2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Relationship Id="rId9" Type="http://schemas.openxmlformats.org/officeDocument/2006/relationships/image" Target="../media/image41.png"/><Relationship Id="rId10" Type="http://schemas.openxmlformats.org/officeDocument/2006/relationships/image" Target="../media/image42.png"/><Relationship Id="rId11" Type="http://schemas.openxmlformats.org/officeDocument/2006/relationships/image" Target="../media/image43.png"/><Relationship Id="rId12" Type="http://schemas.openxmlformats.org/officeDocument/2006/relationships/image" Target="../media/image44.png"/><Relationship Id="rId13" Type="http://schemas.openxmlformats.org/officeDocument/2006/relationships/image" Target="../media/image45.png"/><Relationship Id="rId14" Type="http://schemas.openxmlformats.org/officeDocument/2006/relationships/image" Target="../media/image4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Relationship Id="rId9" Type="http://schemas.openxmlformats.org/officeDocument/2006/relationships/image" Target="../media/image54.png"/><Relationship Id="rId10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8587" y="1819870"/>
            <a:ext cx="4314825" cy="342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3525" y="4104679"/>
            <a:ext cx="9124950" cy="933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3825" y="4342804"/>
            <a:ext cx="2914650" cy="6953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8675" y="4342804"/>
            <a:ext cx="2914650" cy="6953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3525" y="4342804"/>
            <a:ext cx="2914650" cy="6953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70446" y="2391370"/>
            <a:ext cx="8851106" cy="5914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57"/>
              </a:lnSpc>
            </a:pPr>
            <a:r>
              <a:rPr b="0" sz="3450" i="0" u="none">
                <a:solidFill>
                  <a:srgbClr val="FFFFFF"/>
                </a:solidFill>
                <a:latin typeface="Vazirmatn Black"/>
              </a:rPr>
              <a:t>کارنامه عملکرد پژوهشی دانشگاه در </a:t>
            </a:r>
            <a:r>
              <a:rPr b="0" sz="3450" i="0" u="none">
                <a:solidFill>
                  <a:srgbClr val="38BDF8"/>
                </a:solidFill>
                <a:latin typeface="Vazirmatn Black"/>
              </a:rPr>
              <a:t>سامانه ساتع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0250" y="3154263"/>
            <a:ext cx="8191500" cy="6170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29"/>
              </a:lnSpc>
            </a:pPr>
            <a:r>
              <a:rPr b="0" sz="1350" i="0" u="none">
                <a:solidFill>
                  <a:srgbClr val="CBD5E1"/>
                </a:solidFill>
                <a:latin typeface="Vazirmatn"/>
              </a:rPr>
              <a:t>ارزیابی جامع فرآیند ثبت پروپوزال‌ها، قراردادهای نهایی‌شده، حجم اعتبارات جذب‌شده و پایش دستگاه‌های متقاضی بر اساس قوانین بودجه سنواتی (۱۴۰۲ الی ۱۴۰۵)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9087" y="1924645"/>
            <a:ext cx="133350" cy="133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05750" y="4466629"/>
            <a:ext cx="2590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900" i="0" u="none">
                <a:solidFill>
                  <a:srgbClr val="94A3B8"/>
                </a:solidFill>
                <a:latin typeface="Vazirmatn"/>
              </a:rPr>
              <a:t>دانشگاه مجری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34450" y="4695229"/>
            <a:ext cx="15621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1050" i="0" u="none">
                <a:solidFill>
                  <a:srgbClr val="F8FAFC"/>
                </a:solidFill>
                <a:latin typeface="Vazirmatn SemiBold"/>
              </a:rPr>
              <a:t>دانشگاه سیستان و بلوچستان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4466629"/>
            <a:ext cx="2590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900" i="0" u="none">
                <a:solidFill>
                  <a:srgbClr val="94A3B8"/>
                </a:solidFill>
                <a:latin typeface="Vazirmatn"/>
              </a:rPr>
              <a:t>حوزه سازمانی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4695229"/>
            <a:ext cx="25908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1050" i="0" u="none">
                <a:solidFill>
                  <a:srgbClr val="F8FAFC"/>
                </a:solidFill>
                <a:latin typeface="Vazirmatn SemiBold"/>
              </a:rPr>
              <a:t>معاونت پژوهش و فناوری - دفتر ارتباط با صنعت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5450" y="4466629"/>
            <a:ext cx="2590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900" i="0" u="none">
                <a:solidFill>
                  <a:srgbClr val="94A3B8"/>
                </a:solidFill>
                <a:latin typeface="Vazirmatn"/>
              </a:rPr>
              <a:t>دامنه زمانی گزارش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0300" y="4695229"/>
            <a:ext cx="18859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1050" i="0" u="none">
                <a:solidFill>
                  <a:srgbClr val="F8FAFC"/>
                </a:solidFill>
                <a:latin typeface="Vazirmatn SemiBold"/>
              </a:rPr>
              <a:t>دوره ۴ ساله (۱۴۰۲ لغایت افق ۱۴۰۵)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0650" y="1190625"/>
            <a:ext cx="2657475" cy="153531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725" y="1190625"/>
            <a:ext cx="2657475" cy="153531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2800" y="1190625"/>
            <a:ext cx="2657475" cy="153531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5" y="1190625"/>
            <a:ext cx="2657475" cy="153531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7401" y="3771900"/>
            <a:ext cx="6740723" cy="2667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875" y="3771900"/>
            <a:ext cx="4213026" cy="2667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950" y="4424362"/>
            <a:ext cx="3774876" cy="12668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3875" y="490537"/>
            <a:ext cx="2095500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91625" y="1390650"/>
            <a:ext cx="2295525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b="0" sz="1200" i="0" u="none">
                <a:solidFill>
                  <a:srgbClr val="475569"/>
                </a:solidFill>
                <a:latin typeface="Vazirmatn SemiBold"/>
              </a:rPr>
              <a:t>مبلغ دریافتی دانشگاه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91625" y="1790700"/>
            <a:ext cx="2295525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640"/>
              </a:lnSpc>
            </a:pPr>
            <a:r>
              <a:rPr b="0" sz="2400" i="0" u="none">
                <a:solidFill>
                  <a:srgbClr val="0C2340"/>
                </a:solidFill>
                <a:latin typeface="Vazirmatn Black"/>
              </a:rPr>
              <a:t>۳,۶۸۸ </a:t>
            </a:r>
            <a:r>
              <a:rPr b="0" sz="2400" i="0" u="none">
                <a:solidFill>
                  <a:srgbClr val="0C2340"/>
                </a:solidFill>
                <a:latin typeface="Vazirmatn Black"/>
              </a:rPr>
              <a:t>میلیون ریال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91625" y="2183010"/>
            <a:ext cx="22955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b="0" sz="900" i="0" u="none">
                <a:solidFill>
                  <a:srgbClr val="64748B"/>
                </a:solidFill>
                <a:latin typeface="Vazirmatn"/>
              </a:rPr>
              <a:t>مبلغ واقعی پرداختی صندوق بابت قراردادهای منعقدشده (جذب مالی)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2700" y="1390650"/>
            <a:ext cx="2295525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b="0" sz="1200" i="0" u="none">
                <a:solidFill>
                  <a:srgbClr val="475569"/>
                </a:solidFill>
                <a:latin typeface="Vazirmatn SemiBold"/>
              </a:rPr>
              <a:t>پروپوزال‌های ارسالی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2700" y="1790700"/>
            <a:ext cx="2295525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640"/>
              </a:lnSpc>
            </a:pPr>
            <a:r>
              <a:rPr b="0" sz="2400" i="0" u="none">
                <a:solidFill>
                  <a:srgbClr val="0C2340"/>
                </a:solidFill>
                <a:latin typeface="Vazirmatn Black"/>
              </a:rPr>
              <a:t>۲۰ </a:t>
            </a:r>
            <a:r>
              <a:rPr b="0" sz="2400" i="0" u="none">
                <a:solidFill>
                  <a:srgbClr val="0C2340"/>
                </a:solidFill>
                <a:latin typeface="Vazirmatn Black"/>
              </a:rPr>
              <a:t>مورد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2700" y="2183010"/>
            <a:ext cx="22955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b="0" sz="900" i="0" u="none">
                <a:solidFill>
                  <a:srgbClr val="64748B"/>
                </a:solidFill>
                <a:latin typeface="Vazirmatn"/>
              </a:rPr>
              <a:t>پروپوزال‌های ثبت‌شده در ساتع توسط پژوهشگران دانشگاه از سال ۱۴۰۲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3775" y="1390650"/>
            <a:ext cx="2295525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b="0" sz="1200" i="0" u="none">
                <a:solidFill>
                  <a:srgbClr val="475569"/>
                </a:solidFill>
                <a:latin typeface="Vazirmatn SemiBold"/>
              </a:rPr>
              <a:t>قراردادهای منعقدشده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3775" y="1790700"/>
            <a:ext cx="2295525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640"/>
              </a:lnSpc>
            </a:pPr>
            <a:r>
              <a:rPr b="0" sz="2400" i="0" u="none">
                <a:solidFill>
                  <a:srgbClr val="0C2340"/>
                </a:solidFill>
                <a:latin typeface="Vazirmatn Black"/>
              </a:rPr>
              <a:t>۲ </a:t>
            </a:r>
            <a:r>
              <a:rPr b="0" sz="2400" i="0" u="none">
                <a:solidFill>
                  <a:srgbClr val="0C2340"/>
                </a:solidFill>
                <a:latin typeface="Vazirmatn Black"/>
              </a:rPr>
              <a:t>قرارداد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33775" y="2183010"/>
            <a:ext cx="22955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b="0" sz="900" i="0" u="none">
                <a:solidFill>
                  <a:srgbClr val="64748B"/>
                </a:solidFill>
                <a:latin typeface="Vazirmatn"/>
              </a:rPr>
              <a:t>قراردادهای نهایی‌شده با مشمولین ساتع از سال ۱۴۰۲ تاکنون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850" y="1390650"/>
            <a:ext cx="2295525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b="0" sz="1200" i="0" u="none">
                <a:solidFill>
                  <a:srgbClr val="475569"/>
                </a:solidFill>
                <a:latin typeface="Vazirmatn SemiBold"/>
              </a:rPr>
              <a:t>حجم ریالی مصوب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850" y="1790700"/>
            <a:ext cx="2295525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640"/>
              </a:lnSpc>
            </a:pPr>
            <a:r>
              <a:rPr b="0" sz="2400" i="0" u="none">
                <a:solidFill>
                  <a:srgbClr val="0C2340"/>
                </a:solidFill>
                <a:latin typeface="Vazirmatn Black"/>
              </a:rPr>
              <a:t>۱۰,۷۵۰ </a:t>
            </a:r>
            <a:r>
              <a:rPr b="0" sz="2400" i="0" u="none">
                <a:solidFill>
                  <a:srgbClr val="0C2340"/>
                </a:solidFill>
                <a:latin typeface="Vazirmatn Black"/>
              </a:rPr>
              <a:t>میلیون ریال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850" y="2183010"/>
            <a:ext cx="22955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b="0" sz="900" i="0" u="none">
                <a:solidFill>
                  <a:srgbClr val="64748B"/>
                </a:solidFill>
                <a:latin typeface="Vazirmatn"/>
              </a:rPr>
              <a:t>مجموع مبلغ قراردادهای منعقدشده دانشگاه با مشمولین ساتع از سال ۱۴۰۲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65551" y="3952875"/>
            <a:ext cx="6083498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0F2B48"/>
                </a:solidFill>
                <a:latin typeface="Vazirmatn"/>
              </a:rPr>
              <a:t>خلاصه وضعیت طرح‌های ثبت‌شده در کارنامه اکسل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146476" y="4305300"/>
          <a:ext cx="6302573" cy="19526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967335"/>
                <a:gridCol w="722114"/>
                <a:gridCol w="1037183"/>
                <a:gridCol w="1575941"/>
              </a:tblGrid>
              <a:tr h="390525">
                <a:tc>
                  <a:txBody>
                    <a:bodyPr/>
                    <a:lstStyle/>
                    <a:p>
                      <a:pPr algn="r"/>
                      <a:r>
                        <a:rPr b="1" sz="900" i="0" u="none">
                          <a:solidFill>
                            <a:srgbClr val="334155"/>
                          </a:solidFill>
                          <a:latin typeface="Vazirmatn"/>
                        </a:rPr>
                        <a:t>مرحله فرآیندی طرح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900" i="0" u="none">
                          <a:solidFill>
                            <a:srgbClr val="334155"/>
                          </a:solidFill>
                          <a:latin typeface="Vazirmatn"/>
                        </a:rPr>
                        <a:t>تعداد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900" i="0" u="none">
                          <a:solidFill>
                            <a:srgbClr val="334155"/>
                          </a:solidFill>
                          <a:latin typeface="Vazirmatn"/>
                        </a:rPr>
                        <a:t>درصد فراوانی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900" i="0" u="none">
                          <a:solidFill>
                            <a:srgbClr val="334155"/>
                          </a:solidFill>
                          <a:latin typeface="Vazirmatn"/>
                        </a:rPr>
                        <a:t>وضعیت پیگیری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algn="r"/>
                      <a:r>
                        <a:rPr b="1" sz="900" i="0" u="none">
                          <a:solidFill>
                            <a:srgbClr val="000000"/>
                          </a:solidFill>
                          <a:latin typeface="Vazirmatn"/>
                        </a:rPr>
                        <a:t>تایید نهایی و تبدیل به قرارداد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900" i="0" u="none">
                          <a:solidFill>
                            <a:srgbClr val="000000"/>
                          </a:solidFill>
                          <a:latin typeface="Vazirmatn"/>
                        </a:rPr>
                        <a:t>۲ مورد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900" i="0" u="none">
                          <a:solidFill>
                            <a:srgbClr val="000000"/>
                          </a:solidFill>
                          <a:latin typeface="Vazirmatn"/>
                        </a:rPr>
                        <a:t>۱۰.۰٪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900" i="0" u="none">
                          <a:solidFill>
                            <a:srgbClr val="000000"/>
                          </a:solidFill>
                          <a:latin typeface="Vazirmatn"/>
                        </a:rPr>
                        <a:t>فعال / منجر به قرارداد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algn="r"/>
                      <a:r>
                        <a:rPr b="1" sz="900" i="0" u="none">
                          <a:solidFill>
                            <a:srgbClr val="000000"/>
                          </a:solidFill>
                          <a:latin typeface="Vazirmatn"/>
                        </a:rPr>
                        <a:t>در انتظار تایید متقاضی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900" i="0" u="none">
                          <a:solidFill>
                            <a:srgbClr val="000000"/>
                          </a:solidFill>
                          <a:latin typeface="Vazirmatn"/>
                        </a:rPr>
                        <a:t>۴ مورد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900" i="0" u="none">
                          <a:solidFill>
                            <a:srgbClr val="000000"/>
                          </a:solidFill>
                          <a:latin typeface="Vazirmatn"/>
                        </a:rPr>
                        <a:t>۲۰.۰٪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900" i="0" u="none">
                          <a:solidFill>
                            <a:srgbClr val="000000"/>
                          </a:solidFill>
                          <a:latin typeface="Vazirmatn"/>
                        </a:rPr>
                        <a:t>نیازمند پیگیری اداری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algn="r"/>
                      <a:r>
                        <a:rPr b="1" sz="900" i="0" u="none">
                          <a:solidFill>
                            <a:srgbClr val="000000"/>
                          </a:solidFill>
                          <a:latin typeface="Vazirmatn"/>
                        </a:rPr>
                        <a:t>ذخیره موقت (تکمیل‌نشده)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900" i="0" u="none">
                          <a:solidFill>
                            <a:srgbClr val="000000"/>
                          </a:solidFill>
                          <a:latin typeface="Vazirmatn"/>
                        </a:rPr>
                        <a:t>۲ مورد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900" i="0" u="none">
                          <a:solidFill>
                            <a:srgbClr val="000000"/>
                          </a:solidFill>
                          <a:latin typeface="Vazirmatn"/>
                        </a:rPr>
                        <a:t>۱۰.۰٪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900" i="0" u="none">
                          <a:solidFill>
                            <a:srgbClr val="000000"/>
                          </a:solidFill>
                          <a:latin typeface="Vazirmatn"/>
                        </a:rPr>
                        <a:t>در گردش سامانه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algn="r"/>
                      <a:r>
                        <a:rPr b="1" sz="900" i="0" u="none">
                          <a:solidFill>
                            <a:srgbClr val="000000"/>
                          </a:solidFill>
                          <a:latin typeface="Vazirmatn"/>
                        </a:rPr>
                        <a:t>رد شده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900" i="0" u="none">
                          <a:solidFill>
                            <a:srgbClr val="000000"/>
                          </a:solidFill>
                          <a:latin typeface="Vazirmatn"/>
                        </a:rPr>
                        <a:t>۱۲ مورد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900" i="0" u="none">
                          <a:solidFill>
                            <a:srgbClr val="000000"/>
                          </a:solidFill>
                          <a:latin typeface="Vazirmatn"/>
                        </a:rPr>
                        <a:t>۶۰.۰٪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900" i="0" u="none">
                          <a:solidFill>
                            <a:srgbClr val="991B1B"/>
                          </a:solidFill>
                          <a:latin typeface="Vazirmatn"/>
                        </a:rPr>
                        <a:t>خاتمه بررسی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962025" y="3952875"/>
            <a:ext cx="3555801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0F2B48"/>
                </a:solidFill>
                <a:latin typeface="Vazirmatn"/>
              </a:rPr>
              <a:t>نرخ تبدیل و اثربخشی فرآیند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91625" y="1390650"/>
            <a:ext cx="304800" cy="3048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62700" y="1390650"/>
            <a:ext cx="304800" cy="3048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33775" y="1390650"/>
            <a:ext cx="304800" cy="3048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4850" y="1390650"/>
            <a:ext cx="304800" cy="3048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306175" y="3990975"/>
            <a:ext cx="142875" cy="142875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8481714" y="4643437"/>
            <a:ext cx="296733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59600" y="4643437"/>
            <a:ext cx="722114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722417" y="4643437"/>
            <a:ext cx="103718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146476" y="4643437"/>
            <a:ext cx="157594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74951" y="3990975"/>
            <a:ext cx="142875" cy="14287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76300" y="4557712"/>
            <a:ext cx="3508176" cy="390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1950" i="0" u="none">
                <a:solidFill>
                  <a:srgbClr val="0284C7"/>
                </a:solidFill>
                <a:latin typeface="Vazirmatn Black"/>
              </a:rPr>
              <a:t>۱۰.۰٪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6300" y="4986337"/>
            <a:ext cx="3508176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975" i="0" u="none">
                <a:solidFill>
                  <a:srgbClr val="1E293B"/>
                </a:solidFill>
                <a:latin typeface="Vazirmatn"/>
              </a:rPr>
              <a:t>نرخ موفقیت پروپوزال‌ها به قرارداد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6300" y="5214937"/>
            <a:ext cx="3508176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b="0" sz="900" i="0" u="none">
                <a:solidFill>
                  <a:srgbClr val="64748B"/>
                </a:solidFill>
                <a:latin typeface="Vazirmatn"/>
              </a:rPr>
              <a:t>از هر ۱۰ پروپوزال ثبت‌شده در ساتع، ۱ پروپوزال منجر به عقد قرارداد قطعی شده است.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63062" y="1471612"/>
            <a:ext cx="161925" cy="142875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43662" y="1471612"/>
            <a:ext cx="142875" cy="142875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633787" y="1471612"/>
            <a:ext cx="104775" cy="142875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85812" y="1471612"/>
            <a:ext cx="142875" cy="142875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8481714" y="5043487"/>
            <a:ext cx="296733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759600" y="5043487"/>
            <a:ext cx="722114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722417" y="5043487"/>
            <a:ext cx="103718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146476" y="5043487"/>
            <a:ext cx="157594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481714" y="5443537"/>
            <a:ext cx="296733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59600" y="5443537"/>
            <a:ext cx="722114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722417" y="5443537"/>
            <a:ext cx="103718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46476" y="5443537"/>
            <a:ext cx="157594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481714" y="5843587"/>
            <a:ext cx="296733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759600" y="5843587"/>
            <a:ext cx="722114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722417" y="5843587"/>
            <a:ext cx="103718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146476" y="5843587"/>
            <a:ext cx="157594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481714" y="6243637"/>
            <a:ext cx="296733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759600" y="6243637"/>
            <a:ext cx="722114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722417" y="6243637"/>
            <a:ext cx="103718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146476" y="6243637"/>
            <a:ext cx="157594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50867" y="4743450"/>
            <a:ext cx="895350" cy="219075"/>
          </a:xfrm>
          <a:prstGeom prst="rect">
            <a:avLst/>
          </a:prstGeom>
        </p:spPr>
      </p:pic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655617" y="5143500"/>
            <a:ext cx="990600" cy="219075"/>
          </a:xfrm>
          <a:prstGeom prst="rect">
            <a:avLst/>
          </a:prstGeom>
        </p:spPr>
      </p:pic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817542" y="5543550"/>
            <a:ext cx="828675" cy="219075"/>
          </a:xfrm>
          <a:prstGeom prst="rect">
            <a:avLst/>
          </a:prstGeom>
        </p:spPr>
      </p:pic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979467" y="5943600"/>
            <a:ext cx="666750" cy="219075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523875" y="419100"/>
            <a:ext cx="11144250" cy="4476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b="0" sz="2250" i="0" u="none">
                <a:solidFill>
                  <a:srgbClr val="0C2340"/>
                </a:solidFill>
                <a:latin typeface="Vazirmatn ExtraBold"/>
              </a:rPr>
              <a:t>داشبورد کلان عملکرد دانشگاه در سامانه ساتع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715000" y="681037"/>
            <a:ext cx="762000" cy="381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190625"/>
            <a:ext cx="11144250" cy="3248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490537"/>
            <a:ext cx="226695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1805" y="1680950"/>
            <a:ext cx="152400" cy="171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0855" y="3280950"/>
            <a:ext cx="133350" cy="171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6898" y="1700000"/>
            <a:ext cx="4599637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2B48"/>
                </a:solidFill>
                <a:latin typeface="Vazirmatn"/>
              </a:rPr>
              <a:t>همکاری پژوهشی با شرکت آب منطقه‌ای سیستان و بلوچستان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898" y="1938125"/>
            <a:ext cx="4380607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64748B"/>
                </a:solidFill>
                <a:latin typeface="Vazirmatn"/>
              </a:rPr>
              <a:t>قرارداد «ضرورت استفاده از آب‌های نامتعارف با توجه به شرایط اقلیمی استان» (گیاهان علوفه‌ای و فضای سبز شهری) به ارزش ۱,۸۰۰ میلیون ریال.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898" y="3300000"/>
            <a:ext cx="461963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2B48"/>
                </a:solidFill>
                <a:latin typeface="Vazirmatn"/>
              </a:rPr>
              <a:t>همکاری پژوهشی با شرکت برق منطقه‌ای سیستان و بلوچستان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898" y="3538125"/>
            <a:ext cx="4399657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64748B"/>
                </a:solidFill>
                <a:latin typeface="Vazirmatn"/>
              </a:rPr>
              <a:t>قرارداد «شناسایی و مدیریت هوشمند شاخص‌های بهره‌وری منابع انسانی» به ارزش ۸,۹۵۰ میلیون ریال (بزرگ‌ترین قرارداد دانشگاه در ساتع).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875" y="419100"/>
            <a:ext cx="11144250" cy="4476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b="0" sz="2250" i="0" u="none">
                <a:solidFill>
                  <a:srgbClr val="0C2340"/>
                </a:solidFill>
                <a:latin typeface="Vazirmatn ExtraBold"/>
              </a:rPr>
              <a:t>تحلیل دستگاه‌های اجرایی و کارفرمایان متقاضی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0" y="681037"/>
            <a:ext cx="762000" cy="381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4352925"/>
            <a:ext cx="11144250" cy="2085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0474" y="1190625"/>
            <a:ext cx="3587650" cy="1838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2174" y="1190625"/>
            <a:ext cx="3587799" cy="18383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023" y="1190625"/>
            <a:ext cx="3587650" cy="18383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75" y="490537"/>
            <a:ext cx="1952625" cy="30480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33400" y="4362450"/>
          <a:ext cx="11125197" cy="2066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605581"/>
                <a:gridCol w="4037334"/>
                <a:gridCol w="2119610"/>
                <a:gridCol w="1749474"/>
                <a:gridCol w="2613198"/>
              </a:tblGrid>
              <a:tr h="413385">
                <a:tc>
                  <a:txBody>
                    <a:bodyPr/>
                    <a:lstStyle/>
                    <a:p>
                      <a:pPr algn="r"/>
                      <a:r>
                        <a:rPr b="1" sz="975" i="0" u="none">
                          <a:solidFill>
                            <a:srgbClr val="1E293B"/>
                          </a:solidFill>
                          <a:latin typeface="Vazirmatn"/>
                        </a:rPr>
                        <a:t>ردیف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975" i="0" u="none">
                          <a:solidFill>
                            <a:srgbClr val="1E293B"/>
                          </a:solidFill>
                          <a:latin typeface="Vazirmatn"/>
                        </a:rPr>
                        <a:t>محور موضوعی پروژه در ساتع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975" i="0" u="none">
                          <a:solidFill>
                            <a:srgbClr val="1E293B"/>
                          </a:solidFill>
                          <a:latin typeface="Vazirmatn"/>
                        </a:rPr>
                        <a:t>کارفرما / سازمان متقاضی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975" i="0" u="none">
                          <a:solidFill>
                            <a:srgbClr val="1E293B"/>
                          </a:solidFill>
                          <a:latin typeface="Vazirmatn"/>
                        </a:rPr>
                        <a:t>ارزش طرح (میلیون ریال)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975" i="0" u="none">
                          <a:solidFill>
                            <a:srgbClr val="1E293B"/>
                          </a:solidFill>
                          <a:latin typeface="Vazirmatn"/>
                        </a:rPr>
                        <a:t>وضعیت اجرایی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826770">
                <a:tc>
                  <a:txBody>
                    <a:bodyPr/>
                    <a:lstStyle/>
                    <a:p>
                      <a:pPr algn="r"/>
                      <a:r>
                        <a:rPr b="0" sz="900" i="0" u="none">
                          <a:solidFill>
                            <a:srgbClr val="475569"/>
                          </a:solidFill>
                          <a:latin typeface="Vazirmatn"/>
                        </a:rPr>
                        <a:t>۱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900" i="0" u="none">
                          <a:solidFill>
                            <a:srgbClr val="475569"/>
                          </a:solidFill>
                          <a:latin typeface="Vazirmatn"/>
                        </a:rPr>
                        <a:t>ضرورت استفاده از آب‌های نامتعارف با توجه به شرایط اقلیمی استان (گیاهان علوفه‌ای و فضای سبز شهری)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900" i="0" u="none">
                          <a:solidFill>
                            <a:srgbClr val="475569"/>
                          </a:solidFill>
                          <a:latin typeface="Vazirmatn"/>
                        </a:rPr>
                        <a:t>شرکت آب منطقه‌ای سیستان و بلوچستان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900" i="0" u="none">
                          <a:solidFill>
                            <a:srgbClr val="475569"/>
                          </a:solidFill>
                          <a:latin typeface="Vazirmatn"/>
                        </a:rPr>
                        <a:t>۱,۸۰۰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900" i="0" u="none">
                          <a:solidFill>
                            <a:srgbClr val="475569"/>
                          </a:solidFill>
                          <a:latin typeface="Vazirmatn"/>
                        </a:rPr>
                        <a:t>تایید نهایی (جذب مالی ۸۰.۶٪)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26770">
                <a:tc>
                  <a:txBody>
                    <a:bodyPr/>
                    <a:lstStyle/>
                    <a:p>
                      <a:pPr algn="r"/>
                      <a:r>
                        <a:rPr b="0" sz="900" i="0" u="none">
                          <a:solidFill>
                            <a:srgbClr val="475569"/>
                          </a:solidFill>
                          <a:latin typeface="Vazirmatn"/>
                        </a:rPr>
                        <a:t>۲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900" i="0" u="none">
                          <a:solidFill>
                            <a:srgbClr val="475569"/>
                          </a:solidFill>
                          <a:latin typeface="Vazirmatn"/>
                        </a:rPr>
                        <a:t>شناسایی و مدیریت هوشمند شاخص‌های بهره‌وری منابع انسانی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900" i="0" u="none">
                          <a:solidFill>
                            <a:srgbClr val="475569"/>
                          </a:solidFill>
                          <a:latin typeface="Vazirmatn"/>
                        </a:rPr>
                        <a:t>شرکت برق منطقه‌ای سیستان و بلوچستان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900" i="0" u="none">
                          <a:solidFill>
                            <a:srgbClr val="475569"/>
                          </a:solidFill>
                          <a:latin typeface="Vazirmatn"/>
                        </a:rPr>
                        <a:t>۸,۹۵۰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900" i="0" u="none">
                          <a:solidFill>
                            <a:srgbClr val="475569"/>
                          </a:solidFill>
                          <a:latin typeface="Vazirmatn"/>
                        </a:rPr>
                        <a:t>تایید نهایی (جذب مالی ۲۵.۰٪)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947124" y="2100262"/>
            <a:ext cx="20955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94A3B8"/>
                </a:solidFill>
                <a:latin typeface="Vazirmatn"/>
              </a:rPr>
              <a:t>←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96600" y="1419225"/>
            <a:ext cx="571500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21119" y="1695450"/>
            <a:ext cx="334698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200" i="0" u="none">
                <a:solidFill>
                  <a:srgbClr val="0F2B48"/>
                </a:solidFill>
                <a:latin typeface="Vazirmatn"/>
              </a:rPr>
              <a:t>پژوهشگران فعال دانشگاه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0499" y="2009775"/>
            <a:ext cx="3187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2100" i="0" u="none">
                <a:solidFill>
                  <a:srgbClr val="0F172A"/>
                </a:solidFill>
                <a:latin typeface="Vazirmatn Black"/>
              </a:rPr>
              <a:t>۱۲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0499" y="2486025"/>
            <a:ext cx="3187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b="0" sz="900" i="0" u="none">
                <a:solidFill>
                  <a:srgbClr val="64748B"/>
                </a:solidFill>
                <a:latin typeface="Vazirmatn"/>
              </a:rPr>
              <a:t>پژوهشگر دارای پروپوزال ثبت‌شده در ساتع از سال ۱۴۰۲ تاکنون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8824" y="2100262"/>
            <a:ext cx="20955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94A3B8"/>
                </a:solidFill>
                <a:latin typeface="Vazirmatn"/>
              </a:rPr>
              <a:t>←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99399" y="1419225"/>
            <a:ext cx="590550" cy="2000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342812" y="1695450"/>
            <a:ext cx="3347137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200" i="0" u="none">
                <a:solidFill>
                  <a:srgbClr val="0F2B48"/>
                </a:solidFill>
                <a:latin typeface="Vazirmatn"/>
              </a:rPr>
              <a:t>تدوین و دفاع پروپوزال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2199" y="2009775"/>
            <a:ext cx="3187749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2100" i="0" u="none">
                <a:solidFill>
                  <a:srgbClr val="0F172A"/>
                </a:solidFill>
                <a:latin typeface="Vazirmatn Black"/>
              </a:rPr>
              <a:t>۲۰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2199" y="2486025"/>
            <a:ext cx="3187749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b="0" sz="900" i="0" u="none">
                <a:solidFill>
                  <a:srgbClr val="64748B"/>
                </a:solidFill>
                <a:latin typeface="Vazirmatn"/>
              </a:rPr>
              <a:t>پروپوزال رسمی ثبت‌شده در سامانه ساتع از سال ۱۴۰۲ تاکنون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82999" y="1419225"/>
            <a:ext cx="628650" cy="20002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64668" y="1695450"/>
            <a:ext cx="334698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200" i="0" u="none">
                <a:solidFill>
                  <a:srgbClr val="0F2B48"/>
                </a:solidFill>
                <a:latin typeface="Vazirmatn"/>
              </a:rPr>
              <a:t>عقد قرارداد و تخصیص بودجه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4048" y="2009775"/>
            <a:ext cx="3187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2100" i="0" u="none">
                <a:solidFill>
                  <a:srgbClr val="0F172A"/>
                </a:solidFill>
                <a:latin typeface="Vazirmatn Black"/>
              </a:rPr>
              <a:t>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4048" y="2486025"/>
            <a:ext cx="3187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b="0" sz="900" i="0" u="none">
                <a:solidFill>
                  <a:srgbClr val="64748B"/>
                </a:solidFill>
                <a:latin typeface="Vazirmatn"/>
              </a:rPr>
              <a:t>قرارداد قطعی به ارزش ۱۰,۷۵۰ میلیون ریال و آغاز مراحل اجرایی طرح‌ها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053018" y="5167312"/>
            <a:ext cx="60558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90420" y="5167312"/>
            <a:ext cx="316259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70810" y="5167312"/>
            <a:ext cx="211961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021335" y="5167312"/>
            <a:ext cx="1749474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71861" y="5167312"/>
            <a:ext cx="1749474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3400" y="5167312"/>
            <a:ext cx="173846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053018" y="5586412"/>
            <a:ext cx="60558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890420" y="5586412"/>
            <a:ext cx="316259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770810" y="5586412"/>
            <a:ext cx="211961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021335" y="5586412"/>
            <a:ext cx="1749474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71861" y="5586412"/>
            <a:ext cx="1749474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33400" y="5586412"/>
            <a:ext cx="173846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053018" y="6005512"/>
            <a:ext cx="60558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890420" y="6005512"/>
            <a:ext cx="316259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70810" y="6005512"/>
            <a:ext cx="211961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021335" y="6005512"/>
            <a:ext cx="1749474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271861" y="6005512"/>
            <a:ext cx="1749474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33400" y="6005512"/>
            <a:ext cx="173846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5986" y="4857750"/>
            <a:ext cx="1152525" cy="219075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62211" y="5276850"/>
            <a:ext cx="876300" cy="219075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8836" y="5695950"/>
            <a:ext cx="1209675" cy="219075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4086" y="6115050"/>
            <a:ext cx="1114425" cy="219075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523875" y="419100"/>
            <a:ext cx="11144250" cy="4476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b="0" sz="2250" i="0" u="none">
                <a:solidFill>
                  <a:srgbClr val="0C2340"/>
                </a:solidFill>
                <a:latin typeface="Vazirmatn ExtraBold"/>
              </a:rPr>
              <a:t>وضعیت قراردادها و رصد پروژه‌های کلیدی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715000" y="681037"/>
            <a:ext cx="762000" cy="381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7675" y="1190625"/>
            <a:ext cx="3600450" cy="220741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5775" y="1190625"/>
            <a:ext cx="3600450" cy="220741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1190625"/>
            <a:ext cx="3600450" cy="220741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5" y="490537"/>
            <a:ext cx="18669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58550" y="5692378"/>
            <a:ext cx="171450" cy="584596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53675" y="1409700"/>
            <a:ext cx="1133475" cy="247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86725" y="1771650"/>
            <a:ext cx="340042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200" i="0" u="none">
                <a:solidFill>
                  <a:srgbClr val="0F2B48"/>
                </a:solidFill>
                <a:latin typeface="Vazirmatn"/>
              </a:rPr>
              <a:t>تثبیت زیرساخت و ورود به ساتع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15125" y="1409700"/>
            <a:ext cx="1000125" cy="247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14825" y="1771650"/>
            <a:ext cx="340042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200" i="0" u="none">
                <a:solidFill>
                  <a:srgbClr val="0F2B48"/>
                </a:solidFill>
                <a:latin typeface="Vazirmatn"/>
              </a:rPr>
              <a:t>رفع گلوگاه‌ها و افزایش نرخ تصویب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43200" y="1409700"/>
            <a:ext cx="1200150" cy="247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2925" y="1771650"/>
            <a:ext cx="340042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200" i="0" u="none">
                <a:solidFill>
                  <a:srgbClr val="0F2B48"/>
                </a:solidFill>
                <a:latin typeface="Vazirmatn"/>
              </a:rPr>
              <a:t>تبدیل به مرجع مگاپروژه‌های شرق کشور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900" y="5663803"/>
            <a:ext cx="103822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050" i="0" u="none">
                <a:solidFill>
                  <a:srgbClr val="0F2B48"/>
                </a:solidFill>
                <a:latin typeface="Vazirmatn"/>
              </a:rPr>
              <a:t>وضعیت فعلی پروپوزال‌های دانشگاه در ساتع: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5911453"/>
            <a:ext cx="10382250" cy="365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439"/>
              </a:lnSpc>
            </a:pPr>
            <a:r>
              <a:rPr b="0" sz="900" i="0" u="none">
                <a:solidFill>
                  <a:srgbClr val="334155"/>
                </a:solidFill>
                <a:latin typeface="Vazirmatn"/>
              </a:rPr>
              <a:t>از ۲۰ پروپوزال ثبت‌شده از سال ۱۴۰۲، تنها ۲ مورد (۱۰٪) به قرارداد تبدیل شده و ۱۲ مورد (۶۰٪) رد شده است. ۴ پروپوزال هم‌اکنون در انتظار تایید متقاضی است -- پیگیری همین موارد، ساده‌ترین راه افزایش نرخ تبدیل در کوتاه‌مدت است.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8650" y="2143125"/>
            <a:ext cx="3067050" cy="182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439"/>
              </a:lnSpc>
            </a:pPr>
            <a:r>
              <a:rPr b="0" sz="900" i="0" u="none">
                <a:solidFill>
                  <a:srgbClr val="475569"/>
                </a:solidFill>
                <a:latin typeface="Vazirmatn"/>
              </a:rPr>
              <a:t>شناسایی و ثبت‌نام اساتید برجسته در کارتابل عتف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8650" y="2402085"/>
            <a:ext cx="3067050" cy="182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439"/>
              </a:lnSpc>
            </a:pPr>
            <a:r>
              <a:rPr b="0" sz="900" i="0" u="none">
                <a:solidFill>
                  <a:srgbClr val="475569"/>
                </a:solidFill>
                <a:latin typeface="Vazirmatn"/>
              </a:rPr>
              <a:t>ثبت ۲۰ پروپوزال و انعقاد ۲ قرارداد با مشمولین ساتع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8650" y="2661046"/>
            <a:ext cx="3067050" cy="182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439"/>
              </a:lnSpc>
            </a:pPr>
            <a:r>
              <a:rPr b="0" sz="900" i="0" u="none">
                <a:solidFill>
                  <a:srgbClr val="475569"/>
                </a:solidFill>
                <a:latin typeface="Vazirmatn"/>
              </a:rPr>
              <a:t>جذب ۱۰,۷۵۰ میلیون ریال اعتبار از محل قراردادهای ساتع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8650" y="2920007"/>
            <a:ext cx="3067050" cy="182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439"/>
              </a:lnSpc>
            </a:pPr>
            <a:r>
              <a:rPr b="0" sz="900" i="0" u="none">
                <a:solidFill>
                  <a:srgbClr val="475569"/>
                </a:solidFill>
                <a:latin typeface="Vazirmatn"/>
              </a:rPr>
              <a:t>ایجاد شبکه هماهنگی با شرکت‌های توزیع برق و آب استان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6750" y="2143125"/>
            <a:ext cx="3067050" cy="182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439"/>
              </a:lnSpc>
            </a:pPr>
            <a:r>
              <a:rPr b="0" sz="900" i="0" u="none">
                <a:solidFill>
                  <a:srgbClr val="475569"/>
                </a:solidFill>
                <a:latin typeface="Vazirmatn"/>
              </a:rPr>
              <a:t>کاهش زمان پاسخ‌گویی به داوری‌ها با تشکیل کمیته تسریع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6750" y="2402085"/>
            <a:ext cx="3067050" cy="182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439"/>
              </a:lnSpc>
            </a:pPr>
            <a:r>
              <a:rPr b="0" sz="900" i="0" u="none">
                <a:solidFill>
                  <a:srgbClr val="475569"/>
                </a:solidFill>
                <a:latin typeface="Vazirmatn"/>
              </a:rPr>
              <a:t>تمرکز بر اولویت‌های مرتبط با آب و برق منطقه‌ای استان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6750" y="2661046"/>
            <a:ext cx="3067050" cy="182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439"/>
              </a:lnSpc>
            </a:pPr>
            <a:r>
              <a:rPr b="0" sz="900" i="0" u="none">
                <a:solidFill>
                  <a:srgbClr val="475569"/>
                </a:solidFill>
                <a:latin typeface="Vazirmatn"/>
              </a:rPr>
              <a:t>هدف‌گذاری افزایش تعداد و ارزش قراردادهای مصوب در سال‌های آتی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6750" y="2920007"/>
            <a:ext cx="3067050" cy="182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439"/>
              </a:lnSpc>
            </a:pPr>
            <a:r>
              <a:rPr b="0" sz="900" i="0" u="none">
                <a:solidFill>
                  <a:srgbClr val="475569"/>
                </a:solidFill>
                <a:latin typeface="Vazirmatn"/>
              </a:rPr>
              <a:t>تخصیص بالاسری ویژه و گرنت تجهیزاتی به پژوهشگران مجری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850" y="2143125"/>
            <a:ext cx="3067050" cy="182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439"/>
              </a:lnSpc>
            </a:pPr>
            <a:r>
              <a:rPr b="0" sz="900" i="0" u="none">
                <a:solidFill>
                  <a:srgbClr val="475569"/>
                </a:solidFill>
                <a:latin typeface="Vazirmatn"/>
              </a:rPr>
              <a:t>حضور در کنسرسیوم‌های کلان ملی و مگاپروژه‌های مشترک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850" y="2402085"/>
            <a:ext cx="3067050" cy="182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439"/>
              </a:lnSpc>
            </a:pPr>
            <a:r>
              <a:rPr b="0" sz="900" i="0" u="none">
                <a:solidFill>
                  <a:srgbClr val="475569"/>
                </a:solidFill>
                <a:latin typeface="Vazirmatn"/>
              </a:rPr>
              <a:t>افزایش پایدار حجم سالانه قراردادهای دانشگاه در ساتع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850" y="2661046"/>
            <a:ext cx="3067050" cy="182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439"/>
              </a:lnSpc>
            </a:pPr>
            <a:r>
              <a:rPr b="0" sz="900" i="0" u="none">
                <a:solidFill>
                  <a:srgbClr val="475569"/>
                </a:solidFill>
                <a:latin typeface="Vazirmatn"/>
              </a:rPr>
              <a:t>تاسیس مراکز نوآوری مشترک با صنایع متقاضی در پردیس دانشگاه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850" y="2920007"/>
            <a:ext cx="3067050" cy="182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439"/>
              </a:lnSpc>
            </a:pPr>
            <a:r>
              <a:rPr b="0" sz="900" i="0" u="none">
                <a:solidFill>
                  <a:srgbClr val="475569"/>
                </a:solidFill>
                <a:latin typeface="Vazirmatn"/>
              </a:rPr>
              <a:t>ارتقای نرخ تبدیل پروپوزال به قرارداد به بیش از ۲۵ درصد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26275" y="2114550"/>
            <a:ext cx="571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0284C7"/>
                </a:solidFill>
                <a:latin typeface="Vazirmatn"/>
              </a:rPr>
              <a:t>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26275" y="2373510"/>
            <a:ext cx="571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0284C7"/>
                </a:solidFill>
                <a:latin typeface="Vazirmatn"/>
              </a:rPr>
              <a:t>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26275" y="2632471"/>
            <a:ext cx="571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0284C7"/>
                </a:solidFill>
                <a:latin typeface="Vazirmatn"/>
              </a:rPr>
              <a:t>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26275" y="2891432"/>
            <a:ext cx="571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0284C7"/>
                </a:solidFill>
                <a:latin typeface="Vazirmatn"/>
              </a:rPr>
              <a:t>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54375" y="2114550"/>
            <a:ext cx="571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D97706"/>
                </a:solidFill>
                <a:latin typeface="Vazirmatn"/>
              </a:rPr>
              <a:t>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54375" y="2373510"/>
            <a:ext cx="571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D97706"/>
                </a:solidFill>
                <a:latin typeface="Vazirmatn"/>
              </a:rPr>
              <a:t>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54375" y="2632471"/>
            <a:ext cx="571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D97706"/>
                </a:solidFill>
                <a:latin typeface="Vazirmatn"/>
              </a:rPr>
              <a:t>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54375" y="2891432"/>
            <a:ext cx="571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D97706"/>
                </a:solidFill>
                <a:latin typeface="Vazirmatn"/>
              </a:rPr>
              <a:t>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82475" y="2114550"/>
            <a:ext cx="571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059669"/>
                </a:solidFill>
                <a:latin typeface="Vazirmatn"/>
              </a:rPr>
              <a:t>▪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82475" y="2373510"/>
            <a:ext cx="571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059669"/>
                </a:solidFill>
                <a:latin typeface="Vazirmatn"/>
              </a:rPr>
              <a:t>▪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82475" y="2632471"/>
            <a:ext cx="571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059669"/>
                </a:solidFill>
                <a:latin typeface="Vazirmatn"/>
              </a:rPr>
              <a:t>▪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82475" y="2891432"/>
            <a:ext cx="571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059669"/>
                </a:solidFill>
                <a:latin typeface="Vazirmatn"/>
              </a:rPr>
              <a:t>▪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3875" y="419100"/>
            <a:ext cx="11144250" cy="4476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b="0" sz="2250" i="0" u="none">
                <a:solidFill>
                  <a:srgbClr val="0C2340"/>
                </a:solidFill>
                <a:latin typeface="Vazirmatn ExtraBold"/>
              </a:rPr>
              <a:t>تحلیل موانع و نقشه راه توسعه عملکرد تا افق ۱۴۰۵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715000" y="681037"/>
            <a:ext cx="762000" cy="381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